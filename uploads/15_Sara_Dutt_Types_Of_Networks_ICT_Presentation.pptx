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59" r:id="rId9"/>
    <p:sldId id="260" r:id="rId10"/>
  </p:sldIdLst>
  <p:sldSz cx="18288000" cy="10287000"/>
  <p:notesSz cx="6858000" cy="9144000"/>
  <p:embeddedFontLst>
    <p:embeddedFont>
      <p:font typeface="Cormorant Garamond Bold Italics" panose="020B0604020202020204" charset="0"/>
      <p:regular r:id="rId12"/>
    </p:embeddedFont>
    <p:embeddedFont>
      <p:font typeface="Cormorant Garamond Italics" panose="020B0604020202020204" charset="0"/>
      <p:regular r:id="rId13"/>
    </p:embeddedFont>
    <p:embeddedFont>
      <p:font typeface="Glacial Indifferenc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15" autoAdjust="0"/>
    <p:restoredTop sz="94622" autoAdjust="0"/>
  </p:normalViewPr>
  <p:slideViewPr>
    <p:cSldViewPr>
      <p:cViewPr varScale="1">
        <p:scale>
          <a:sx n="54" d="100"/>
          <a:sy n="54" d="100"/>
        </p:scale>
        <p:origin x="30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0A3AA6-FF0D-4820-ADD0-8E50D76964A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5F0C3-D53A-4E1B-A996-FC5EFF84F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565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5F0C3-D53A-4E1B-A996-FC5EFF84F31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025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764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809790" y="5826116"/>
            <a:ext cx="4478210" cy="4478210"/>
          </a:xfrm>
          <a:custGeom>
            <a:avLst/>
            <a:gdLst/>
            <a:ahLst/>
            <a:cxnLst/>
            <a:rect l="l" t="t" r="r" b="b"/>
            <a:pathLst>
              <a:path w="4478210" h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95399" y="1809197"/>
            <a:ext cx="13499066" cy="3539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n-US" sz="11500" b="1" i="1" dirty="0">
                <a:solidFill>
                  <a:srgbClr val="2D3880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Types of Computer Networks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35026" y="6908910"/>
            <a:ext cx="10859439" cy="60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5400" b="1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by: Sara Dutt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D5DF948-E061-2131-DA2C-F3630A4E3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DE6EE5F-2FFE-98E2-EB45-51E689BBA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7"/>
          <p:cNvSpPr/>
          <p:nvPr/>
        </p:nvSpPr>
        <p:spPr>
          <a:xfrm flipV="1">
            <a:off x="0" y="0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0" y="2276154"/>
                </a:moveTo>
                <a:lnTo>
                  <a:pt x="5372897" y="2276154"/>
                </a:lnTo>
                <a:lnTo>
                  <a:pt x="5372897" y="0"/>
                </a:lnTo>
                <a:lnTo>
                  <a:pt x="0" y="0"/>
                </a:lnTo>
                <a:lnTo>
                  <a:pt x="0" y="22761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10800000" flipH="1" flipV="1">
            <a:off x="12932688" y="8010846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5372896" y="2276154"/>
                </a:moveTo>
                <a:lnTo>
                  <a:pt x="0" y="2276154"/>
                </a:lnTo>
                <a:lnTo>
                  <a:pt x="0" y="0"/>
                </a:lnTo>
                <a:lnTo>
                  <a:pt x="5372896" y="0"/>
                </a:lnTo>
                <a:lnTo>
                  <a:pt x="5372896" y="22761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DC1D05-148B-0D28-EF78-B8900F85728C}"/>
              </a:ext>
            </a:extLst>
          </p:cNvPr>
          <p:cNvSpPr txBox="1"/>
          <p:nvPr/>
        </p:nvSpPr>
        <p:spPr>
          <a:xfrm>
            <a:off x="4419600" y="1411732"/>
            <a:ext cx="9155722" cy="148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10779"/>
              </a:lnSpc>
              <a:spcBef>
                <a:spcPct val="0"/>
              </a:spcBef>
            </a:pPr>
            <a:r>
              <a:rPr lang="en-US" sz="96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What is a Network?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EA6DF-C290-726F-B0DF-50ED674C40DE}"/>
              </a:ext>
            </a:extLst>
          </p:cNvPr>
          <p:cNvSpPr txBox="1"/>
          <p:nvPr/>
        </p:nvSpPr>
        <p:spPr>
          <a:xfrm>
            <a:off x="381000" y="3509660"/>
            <a:ext cx="1135380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Group of connected devices</a:t>
            </a:r>
          </a:p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Shares information and resources</a:t>
            </a:r>
          </a:p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Uses wired or wireless connections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03861F-299A-2324-1314-CBEA09DFA3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95" t="10314" r="13402" b="11368"/>
          <a:stretch>
            <a:fillRect/>
          </a:stretch>
        </p:blipFill>
        <p:spPr>
          <a:xfrm>
            <a:off x="11353801" y="3112989"/>
            <a:ext cx="6576646" cy="473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355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27B19-0BE5-EA18-BFD0-1DEEFE073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F2359A-F41D-435D-276A-85A8FAC35540}"/>
              </a:ext>
            </a:extLst>
          </p:cNvPr>
          <p:cNvSpPr txBox="1"/>
          <p:nvPr/>
        </p:nvSpPr>
        <p:spPr>
          <a:xfrm>
            <a:off x="1371600" y="821409"/>
            <a:ext cx="1312398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88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PAN (Personal Area Network)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F8B23-6CFE-7958-E844-7C54E2690D49}"/>
              </a:ext>
            </a:extLst>
          </p:cNvPr>
          <p:cNvSpPr txBox="1"/>
          <p:nvPr/>
        </p:nvSpPr>
        <p:spPr>
          <a:xfrm>
            <a:off x="709252" y="2871719"/>
            <a:ext cx="10415948" cy="404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Stands for Personal Area Network</a:t>
            </a:r>
          </a:p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Works within short distance (10 meters)</a:t>
            </a:r>
          </a:p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Connects personal devices</a:t>
            </a:r>
          </a:p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Uses Bluetooth</a:t>
            </a:r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B67AAF7D-8B27-8155-419E-30D00132A01D}"/>
              </a:ext>
            </a:extLst>
          </p:cNvPr>
          <p:cNvSpPr/>
          <p:nvPr/>
        </p:nvSpPr>
        <p:spPr>
          <a:xfrm flipH="1">
            <a:off x="14050107" y="-676713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87F01CC-D774-699A-DF0D-4E7656B41EEE}"/>
              </a:ext>
            </a:extLst>
          </p:cNvPr>
          <p:cNvSpPr/>
          <p:nvPr/>
        </p:nvSpPr>
        <p:spPr>
          <a:xfrm flipH="1">
            <a:off x="14080587" y="6445064"/>
            <a:ext cx="4478210" cy="4478210"/>
          </a:xfrm>
          <a:custGeom>
            <a:avLst/>
            <a:gdLst/>
            <a:ahLst/>
            <a:cxnLst/>
            <a:rect l="l" t="t" r="r" b="b"/>
            <a:pathLst>
              <a:path w="4478210" h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DBBEE63A-31A7-A991-89A9-024D63F5424A}"/>
              </a:ext>
            </a:extLst>
          </p:cNvPr>
          <p:cNvGrpSpPr/>
          <p:nvPr/>
        </p:nvGrpSpPr>
        <p:grpSpPr>
          <a:xfrm>
            <a:off x="709252" y="7943582"/>
            <a:ext cx="13123984" cy="1481175"/>
            <a:chOff x="0" y="0"/>
            <a:chExt cx="4274726" cy="823587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5913C868-19E8-BBD9-D609-94E24E531003}"/>
                </a:ext>
              </a:extLst>
            </p:cNvPr>
            <p:cNvSpPr/>
            <p:nvPr/>
          </p:nvSpPr>
          <p:spPr>
            <a:xfrm>
              <a:off x="0" y="0"/>
              <a:ext cx="4274726" cy="823587"/>
            </a:xfrm>
            <a:custGeom>
              <a:avLst/>
              <a:gdLst/>
              <a:ahLst/>
              <a:cxnLst/>
              <a:rect l="l" t="t" r="r" b="b"/>
              <a:pathLst>
                <a:path w="4274726" h="823587">
                  <a:moveTo>
                    <a:pt x="0" y="0"/>
                  </a:moveTo>
                  <a:lnTo>
                    <a:pt x="4274726" y="0"/>
                  </a:lnTo>
                  <a:lnTo>
                    <a:pt x="4274726" y="823587"/>
                  </a:lnTo>
                  <a:lnTo>
                    <a:pt x="0" y="823587"/>
                  </a:lnTo>
                  <a:close/>
                </a:path>
              </a:pathLst>
            </a:custGeom>
            <a:solidFill>
              <a:srgbClr val="CBCBEB"/>
            </a:solidFill>
          </p:spPr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9CD9A9C5-4E10-E2B1-E93D-A1D928AFAF08}"/>
                </a:ext>
              </a:extLst>
            </p:cNvPr>
            <p:cNvSpPr txBox="1"/>
            <p:nvPr/>
          </p:nvSpPr>
          <p:spPr>
            <a:xfrm>
              <a:off x="0" y="-57150"/>
              <a:ext cx="4274726" cy="880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0D42F7C-6642-0DA1-1143-81A67EA74CEA}"/>
              </a:ext>
            </a:extLst>
          </p:cNvPr>
          <p:cNvSpPr txBox="1"/>
          <p:nvPr/>
        </p:nvSpPr>
        <p:spPr>
          <a:xfrm>
            <a:off x="914400" y="7927184"/>
            <a:ext cx="10796948" cy="1291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ts val="1077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2D3880"/>
                </a:solidFill>
                <a:latin typeface="Glacial Indifference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Example: </a:t>
            </a:r>
            <a:r>
              <a:rPr lang="en-US" sz="4400" dirty="0">
                <a:solidFill>
                  <a:srgbClr val="2D3880"/>
                </a:solidFill>
                <a:latin typeface="Glacial Indifference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Phone &lt;-&gt; Earbuds/Smartwatch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0F4971-93F9-8F95-CD8A-8927FA50DF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4" t="15042" r="21269" b="22452"/>
          <a:stretch>
            <a:fillRect/>
          </a:stretch>
        </p:blipFill>
        <p:spPr>
          <a:xfrm>
            <a:off x="11049000" y="2871719"/>
            <a:ext cx="6406600" cy="465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79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A5BF2-8A01-C3AF-2485-38548BA99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54B71E-C2E5-FC77-35DB-48BBBD19B2DB}"/>
              </a:ext>
            </a:extLst>
          </p:cNvPr>
          <p:cNvSpPr txBox="1"/>
          <p:nvPr/>
        </p:nvSpPr>
        <p:spPr>
          <a:xfrm>
            <a:off x="1676400" y="1241827"/>
            <a:ext cx="1312398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88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CAN (Campus Area Network)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235891-7919-22AE-1547-310C3551BD82}"/>
              </a:ext>
            </a:extLst>
          </p:cNvPr>
          <p:cNvSpPr txBox="1"/>
          <p:nvPr/>
        </p:nvSpPr>
        <p:spPr>
          <a:xfrm>
            <a:off x="563880" y="3525572"/>
            <a:ext cx="9494514" cy="404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Stands for Campus Area Network</a:t>
            </a:r>
          </a:p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Covers a school or office campus</a:t>
            </a:r>
          </a:p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Connects multiple buildings</a:t>
            </a:r>
          </a:p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Uses high-speed fiber cables</a:t>
            </a:r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88E2E267-F2BB-BA78-3C3A-E8B18056276A}"/>
              </a:ext>
            </a:extLst>
          </p:cNvPr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A8F1AED-526A-4E7C-77FE-B236A967FB46}"/>
              </a:ext>
            </a:extLst>
          </p:cNvPr>
          <p:cNvSpPr/>
          <p:nvPr/>
        </p:nvSpPr>
        <p:spPr>
          <a:xfrm flipH="1">
            <a:off x="14385692" y="6210300"/>
            <a:ext cx="4478210" cy="4478210"/>
          </a:xfrm>
          <a:custGeom>
            <a:avLst/>
            <a:gdLst/>
            <a:ahLst/>
            <a:cxnLst/>
            <a:rect l="l" t="t" r="r" b="b"/>
            <a:pathLst>
              <a:path w="4478210" h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4BCCB8-4FCA-DC5C-0F58-0321BE4148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00" t="18131" r="17000" b="25593"/>
          <a:stretch>
            <a:fillRect/>
          </a:stretch>
        </p:blipFill>
        <p:spPr>
          <a:xfrm>
            <a:off x="10058394" y="3907344"/>
            <a:ext cx="6794997" cy="391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91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7AC7C-D162-7A59-7D20-EEC0BCE18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1F49A8-C4EE-7F61-6435-48779F0D12A4}"/>
              </a:ext>
            </a:extLst>
          </p:cNvPr>
          <p:cNvSpPr txBox="1"/>
          <p:nvPr/>
        </p:nvSpPr>
        <p:spPr>
          <a:xfrm>
            <a:off x="1752600" y="891428"/>
            <a:ext cx="1312398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88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VAN (Virtual Area Network)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4A7BEA-DB16-EE15-C246-676478836E3C}"/>
              </a:ext>
            </a:extLst>
          </p:cNvPr>
          <p:cNvSpPr txBox="1"/>
          <p:nvPr/>
        </p:nvSpPr>
        <p:spPr>
          <a:xfrm>
            <a:off x="396834" y="2917798"/>
            <a:ext cx="8839200" cy="404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Stands for Virtual Area Network</a:t>
            </a:r>
          </a:p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Works over the internet</a:t>
            </a:r>
          </a:p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Acts like a local network</a:t>
            </a:r>
          </a:p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Secure Connection</a:t>
            </a:r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EED0017F-5277-D555-6AC7-B360509B6D9A}"/>
              </a:ext>
            </a:extLst>
          </p:cNvPr>
          <p:cNvSpPr/>
          <p:nvPr/>
        </p:nvSpPr>
        <p:spPr>
          <a:xfrm flipH="1">
            <a:off x="13863716" y="-359678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1A69894-2223-DF13-D5B8-6C968B1A2176}"/>
              </a:ext>
            </a:extLst>
          </p:cNvPr>
          <p:cNvSpPr/>
          <p:nvPr/>
        </p:nvSpPr>
        <p:spPr>
          <a:xfrm flipH="1">
            <a:off x="14249400" y="6333865"/>
            <a:ext cx="4478210" cy="4478210"/>
          </a:xfrm>
          <a:custGeom>
            <a:avLst/>
            <a:gdLst/>
            <a:ahLst/>
            <a:cxnLst/>
            <a:rect l="l" t="t" r="r" b="b"/>
            <a:pathLst>
              <a:path w="4478210" h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F2E7343E-DCD8-EE5D-1CE3-0E5AF3B120C3}"/>
              </a:ext>
            </a:extLst>
          </p:cNvPr>
          <p:cNvGrpSpPr/>
          <p:nvPr/>
        </p:nvGrpSpPr>
        <p:grpSpPr>
          <a:xfrm>
            <a:off x="709252" y="7943582"/>
            <a:ext cx="13123984" cy="1481175"/>
            <a:chOff x="0" y="0"/>
            <a:chExt cx="4274726" cy="823587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E4EC6903-225D-99A3-AC2E-E13CF78BAE90}"/>
                </a:ext>
              </a:extLst>
            </p:cNvPr>
            <p:cNvSpPr/>
            <p:nvPr/>
          </p:nvSpPr>
          <p:spPr>
            <a:xfrm>
              <a:off x="0" y="0"/>
              <a:ext cx="4274726" cy="823587"/>
            </a:xfrm>
            <a:custGeom>
              <a:avLst/>
              <a:gdLst/>
              <a:ahLst/>
              <a:cxnLst/>
              <a:rect l="l" t="t" r="r" b="b"/>
              <a:pathLst>
                <a:path w="4274726" h="823587">
                  <a:moveTo>
                    <a:pt x="0" y="0"/>
                  </a:moveTo>
                  <a:lnTo>
                    <a:pt x="4274726" y="0"/>
                  </a:lnTo>
                  <a:lnTo>
                    <a:pt x="4274726" y="823587"/>
                  </a:lnTo>
                  <a:lnTo>
                    <a:pt x="0" y="823587"/>
                  </a:lnTo>
                  <a:close/>
                </a:path>
              </a:pathLst>
            </a:custGeom>
            <a:solidFill>
              <a:srgbClr val="CBCBEB"/>
            </a:solidFill>
          </p:spPr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68F5070C-8934-D8C8-8DF5-F45AC10D216E}"/>
                </a:ext>
              </a:extLst>
            </p:cNvPr>
            <p:cNvSpPr txBox="1"/>
            <p:nvPr/>
          </p:nvSpPr>
          <p:spPr>
            <a:xfrm>
              <a:off x="0" y="-57150"/>
              <a:ext cx="4274726" cy="880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0C757B7-FD55-AB5E-9BA4-66E3E1EB0DF0}"/>
              </a:ext>
            </a:extLst>
          </p:cNvPr>
          <p:cNvSpPr txBox="1"/>
          <p:nvPr/>
        </p:nvSpPr>
        <p:spPr>
          <a:xfrm>
            <a:off x="914400" y="7927184"/>
            <a:ext cx="10796948" cy="1291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ts val="1077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2D3880"/>
                </a:solidFill>
                <a:latin typeface="Glacial Indifference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Uses: </a:t>
            </a:r>
            <a:r>
              <a:rPr lang="en-US" sz="4400" dirty="0">
                <a:solidFill>
                  <a:srgbClr val="2D3880"/>
                </a:solidFill>
                <a:latin typeface="Glacial Indifference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Remote work, Online gaming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886696-2134-0E41-7C33-BD6D49465A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5" t="10553" r="9615" b="15552"/>
          <a:stretch>
            <a:fillRect/>
          </a:stretch>
        </p:blipFill>
        <p:spPr>
          <a:xfrm>
            <a:off x="9144000" y="2813795"/>
            <a:ext cx="7329265" cy="445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0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98558-E9C5-E97D-C12F-5F4031BD0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B51C2A-A77C-E8E0-36BD-6825E5D42701}"/>
              </a:ext>
            </a:extLst>
          </p:cNvPr>
          <p:cNvSpPr txBox="1"/>
          <p:nvPr/>
        </p:nvSpPr>
        <p:spPr>
          <a:xfrm>
            <a:off x="1143000" y="1027999"/>
            <a:ext cx="137922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76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WLAN (Wireless Local Area Network)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A16B92-6EA4-8491-A87F-594A3834DE99}"/>
              </a:ext>
            </a:extLst>
          </p:cNvPr>
          <p:cNvSpPr txBox="1"/>
          <p:nvPr/>
        </p:nvSpPr>
        <p:spPr>
          <a:xfrm>
            <a:off x="0" y="2912345"/>
            <a:ext cx="10591800" cy="404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Stands for Wireless Local Area Network</a:t>
            </a:r>
          </a:p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Uses Wi-Fi</a:t>
            </a:r>
          </a:p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cables required</a:t>
            </a:r>
          </a:p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Range up to 100 meters</a:t>
            </a:r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88FD6228-94C2-02EB-1D95-F927B397116C}"/>
              </a:ext>
            </a:extLst>
          </p:cNvPr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1FAFBE0-263D-9880-5955-7E5EDC91E3AD}"/>
              </a:ext>
            </a:extLst>
          </p:cNvPr>
          <p:cNvSpPr/>
          <p:nvPr/>
        </p:nvSpPr>
        <p:spPr>
          <a:xfrm flipH="1">
            <a:off x="14133929" y="6179486"/>
            <a:ext cx="4478210" cy="4478210"/>
          </a:xfrm>
          <a:custGeom>
            <a:avLst/>
            <a:gdLst/>
            <a:ahLst/>
            <a:cxnLst/>
            <a:rect l="l" t="t" r="r" b="b"/>
            <a:pathLst>
              <a:path w="4478210" h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2208E150-F763-C5F1-E8C9-2BC2479D9BD0}"/>
              </a:ext>
            </a:extLst>
          </p:cNvPr>
          <p:cNvGrpSpPr/>
          <p:nvPr/>
        </p:nvGrpSpPr>
        <p:grpSpPr>
          <a:xfrm>
            <a:off x="709252" y="7943582"/>
            <a:ext cx="13123984" cy="1481175"/>
            <a:chOff x="0" y="0"/>
            <a:chExt cx="4274726" cy="823587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DC1FD3D9-E00D-CDD5-6DB4-3A1C9F219711}"/>
                </a:ext>
              </a:extLst>
            </p:cNvPr>
            <p:cNvSpPr/>
            <p:nvPr/>
          </p:nvSpPr>
          <p:spPr>
            <a:xfrm>
              <a:off x="0" y="0"/>
              <a:ext cx="4274726" cy="823587"/>
            </a:xfrm>
            <a:custGeom>
              <a:avLst/>
              <a:gdLst/>
              <a:ahLst/>
              <a:cxnLst/>
              <a:rect l="l" t="t" r="r" b="b"/>
              <a:pathLst>
                <a:path w="4274726" h="823587">
                  <a:moveTo>
                    <a:pt x="0" y="0"/>
                  </a:moveTo>
                  <a:lnTo>
                    <a:pt x="4274726" y="0"/>
                  </a:lnTo>
                  <a:lnTo>
                    <a:pt x="4274726" y="823587"/>
                  </a:lnTo>
                  <a:lnTo>
                    <a:pt x="0" y="823587"/>
                  </a:lnTo>
                  <a:close/>
                </a:path>
              </a:pathLst>
            </a:custGeom>
            <a:solidFill>
              <a:srgbClr val="CBCBEB"/>
            </a:solidFill>
          </p:spPr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D488B895-5A28-B37D-2C74-64ABC30D5D0B}"/>
                </a:ext>
              </a:extLst>
            </p:cNvPr>
            <p:cNvSpPr txBox="1"/>
            <p:nvPr/>
          </p:nvSpPr>
          <p:spPr>
            <a:xfrm>
              <a:off x="0" y="-57150"/>
              <a:ext cx="4274726" cy="880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CCD087A-AE05-AF9B-B179-56C02F177C94}"/>
              </a:ext>
            </a:extLst>
          </p:cNvPr>
          <p:cNvSpPr txBox="1"/>
          <p:nvPr/>
        </p:nvSpPr>
        <p:spPr>
          <a:xfrm>
            <a:off x="914400" y="7927184"/>
            <a:ext cx="10796948" cy="1291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ts val="1077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2D3880"/>
                </a:solidFill>
                <a:latin typeface="Glacial Indifference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Examples: </a:t>
            </a:r>
            <a:r>
              <a:rPr lang="en-US" sz="4400" dirty="0">
                <a:solidFill>
                  <a:srgbClr val="2D3880"/>
                </a:solidFill>
                <a:latin typeface="Glacial Indifference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Home and School Wi-Fi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1DF974-F5E2-F6E4-AA88-A00995CE10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0" t="20381" r="18000" b="19981"/>
          <a:stretch>
            <a:fillRect/>
          </a:stretch>
        </p:blipFill>
        <p:spPr>
          <a:xfrm>
            <a:off x="10591800" y="3729828"/>
            <a:ext cx="6251935" cy="394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32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DF60D-14C6-EF70-22CC-C0881224C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273DB5-E50F-FBFD-2F00-64DC8181DD24}"/>
              </a:ext>
            </a:extLst>
          </p:cNvPr>
          <p:cNvSpPr txBox="1"/>
          <p:nvPr/>
        </p:nvSpPr>
        <p:spPr>
          <a:xfrm>
            <a:off x="304800" y="687937"/>
            <a:ext cx="137922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76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LAN (Local Area Network)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6140C6-327A-2949-1563-4EAF5EA549AD}"/>
              </a:ext>
            </a:extLst>
          </p:cNvPr>
          <p:cNvSpPr txBox="1"/>
          <p:nvPr/>
        </p:nvSpPr>
        <p:spPr>
          <a:xfrm>
            <a:off x="678773" y="2637758"/>
            <a:ext cx="8770028" cy="404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Stands for Local Area Network</a:t>
            </a:r>
          </a:p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Covers one building</a:t>
            </a:r>
          </a:p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Uses cables or Wi-Fi</a:t>
            </a:r>
          </a:p>
          <a:p>
            <a:pPr marL="988059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Fast file sharing</a:t>
            </a:r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10E765C7-A63D-191F-194A-4B6E9B9D3531}"/>
              </a:ext>
            </a:extLst>
          </p:cNvPr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1328588-9953-0AE9-EF83-9B84EA2FBC57}"/>
              </a:ext>
            </a:extLst>
          </p:cNvPr>
          <p:cNvSpPr/>
          <p:nvPr/>
        </p:nvSpPr>
        <p:spPr>
          <a:xfrm flipH="1">
            <a:off x="13809790" y="5826116"/>
            <a:ext cx="4478210" cy="4478210"/>
          </a:xfrm>
          <a:custGeom>
            <a:avLst/>
            <a:gdLst/>
            <a:ahLst/>
            <a:cxnLst/>
            <a:rect l="l" t="t" r="r" b="b"/>
            <a:pathLst>
              <a:path w="4478210" h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ABFFF352-25DE-4A32-47BA-1F865241D646}"/>
              </a:ext>
            </a:extLst>
          </p:cNvPr>
          <p:cNvGrpSpPr/>
          <p:nvPr/>
        </p:nvGrpSpPr>
        <p:grpSpPr>
          <a:xfrm>
            <a:off x="709252" y="7943582"/>
            <a:ext cx="13123984" cy="1481175"/>
            <a:chOff x="0" y="0"/>
            <a:chExt cx="4274726" cy="823587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1D2FF8B9-96E6-B324-8F72-2B25EBEBE66F}"/>
                </a:ext>
              </a:extLst>
            </p:cNvPr>
            <p:cNvSpPr/>
            <p:nvPr/>
          </p:nvSpPr>
          <p:spPr>
            <a:xfrm>
              <a:off x="0" y="0"/>
              <a:ext cx="4274726" cy="823587"/>
            </a:xfrm>
            <a:custGeom>
              <a:avLst/>
              <a:gdLst/>
              <a:ahLst/>
              <a:cxnLst/>
              <a:rect l="l" t="t" r="r" b="b"/>
              <a:pathLst>
                <a:path w="4274726" h="823587">
                  <a:moveTo>
                    <a:pt x="0" y="0"/>
                  </a:moveTo>
                  <a:lnTo>
                    <a:pt x="4274726" y="0"/>
                  </a:lnTo>
                  <a:lnTo>
                    <a:pt x="4274726" y="823587"/>
                  </a:lnTo>
                  <a:lnTo>
                    <a:pt x="0" y="823587"/>
                  </a:lnTo>
                  <a:close/>
                </a:path>
              </a:pathLst>
            </a:custGeom>
            <a:solidFill>
              <a:srgbClr val="CBCBEB"/>
            </a:solidFill>
          </p:spPr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F324186F-0ED6-270A-7224-006D220C4C2D}"/>
                </a:ext>
              </a:extLst>
            </p:cNvPr>
            <p:cNvSpPr txBox="1"/>
            <p:nvPr/>
          </p:nvSpPr>
          <p:spPr>
            <a:xfrm>
              <a:off x="0" y="-57150"/>
              <a:ext cx="4274726" cy="880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77A8AFF-62CA-1A72-B534-EC05991C6EA0}"/>
              </a:ext>
            </a:extLst>
          </p:cNvPr>
          <p:cNvSpPr txBox="1"/>
          <p:nvPr/>
        </p:nvSpPr>
        <p:spPr>
          <a:xfrm>
            <a:off x="914400" y="7927184"/>
            <a:ext cx="10796948" cy="1291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ts val="1077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2D3880"/>
                </a:solidFill>
                <a:latin typeface="Glacial Indifference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Examples: </a:t>
            </a:r>
            <a:r>
              <a:rPr lang="en-US" sz="4400" dirty="0">
                <a:solidFill>
                  <a:srgbClr val="2D3880"/>
                </a:solidFill>
                <a:latin typeface="Glacial Indifference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Classroom, Computer Lab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70ECE5-A15F-2BCE-A7BB-5FCCDB6C02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53" t="13656" r="33494" b="48063"/>
          <a:stretch>
            <a:fillRect/>
          </a:stretch>
        </p:blipFill>
        <p:spPr>
          <a:xfrm>
            <a:off x="9601200" y="2637758"/>
            <a:ext cx="6051809" cy="473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08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 flipV="1">
            <a:off x="-488462" y="-966869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0" y="2276155"/>
                </a:moveTo>
                <a:lnTo>
                  <a:pt x="5372897" y="2276155"/>
                </a:lnTo>
                <a:lnTo>
                  <a:pt x="5372897" y="0"/>
                </a:lnTo>
                <a:lnTo>
                  <a:pt x="0" y="0"/>
                </a:lnTo>
                <a:lnTo>
                  <a:pt x="0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 flipV="1">
            <a:off x="12915103" y="-1021563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5372897" y="2276154"/>
                </a:moveTo>
                <a:lnTo>
                  <a:pt x="0" y="2276154"/>
                </a:lnTo>
                <a:lnTo>
                  <a:pt x="0" y="0"/>
                </a:lnTo>
                <a:lnTo>
                  <a:pt x="5372897" y="0"/>
                </a:lnTo>
                <a:lnTo>
                  <a:pt x="5372897" y="22761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917671" y="392647"/>
            <a:ext cx="10196150" cy="135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59"/>
              </a:lnSpc>
              <a:spcBef>
                <a:spcPct val="0"/>
              </a:spcBef>
            </a:pPr>
            <a:r>
              <a:rPr lang="en-US" sz="96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Summary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5400" y="2176749"/>
            <a:ext cx="6934200" cy="5981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81047" lvl="1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PAN</a:t>
            </a: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 Personal devices</a:t>
            </a:r>
          </a:p>
          <a:p>
            <a:pPr marL="781047" lvl="1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LAN</a:t>
            </a: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-One building</a:t>
            </a:r>
          </a:p>
          <a:p>
            <a:pPr marL="781047" lvl="1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WLAN</a:t>
            </a: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-Wireless LAN</a:t>
            </a:r>
          </a:p>
          <a:p>
            <a:pPr marL="781047" lvl="1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CAN</a:t>
            </a: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-Campus network</a:t>
            </a:r>
          </a:p>
          <a:p>
            <a:pPr marL="781047" lvl="1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VAN</a:t>
            </a:r>
            <a:r>
              <a:rPr lang="en-US" sz="44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-Virtual network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endParaRPr lang="en-US" sz="440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grpSp>
        <p:nvGrpSpPr>
          <p:cNvPr id="15" name="Group 2">
            <a:extLst>
              <a:ext uri="{FF2B5EF4-FFF2-40B4-BE49-F238E27FC236}">
                <a16:creationId xmlns:a16="http://schemas.microsoft.com/office/drawing/2014/main" id="{AE7FF531-BCC4-F2FB-E310-4492D9E5DDB4}"/>
              </a:ext>
            </a:extLst>
          </p:cNvPr>
          <p:cNvGrpSpPr/>
          <p:nvPr/>
        </p:nvGrpSpPr>
        <p:grpSpPr>
          <a:xfrm>
            <a:off x="2453754" y="8782770"/>
            <a:ext cx="13123984" cy="1042891"/>
            <a:chOff x="0" y="0"/>
            <a:chExt cx="4274726" cy="823587"/>
          </a:xfrm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0EA7817E-C5D9-7163-045D-B85A15E1EAD5}"/>
                </a:ext>
              </a:extLst>
            </p:cNvPr>
            <p:cNvSpPr/>
            <p:nvPr/>
          </p:nvSpPr>
          <p:spPr>
            <a:xfrm>
              <a:off x="0" y="0"/>
              <a:ext cx="4274726" cy="823587"/>
            </a:xfrm>
            <a:custGeom>
              <a:avLst/>
              <a:gdLst/>
              <a:ahLst/>
              <a:cxnLst/>
              <a:rect l="l" t="t" r="r" b="b"/>
              <a:pathLst>
                <a:path w="4274726" h="823587">
                  <a:moveTo>
                    <a:pt x="0" y="0"/>
                  </a:moveTo>
                  <a:lnTo>
                    <a:pt x="4274726" y="0"/>
                  </a:lnTo>
                  <a:lnTo>
                    <a:pt x="4274726" y="823587"/>
                  </a:lnTo>
                  <a:lnTo>
                    <a:pt x="0" y="823587"/>
                  </a:lnTo>
                  <a:close/>
                </a:path>
              </a:pathLst>
            </a:custGeom>
            <a:solidFill>
              <a:srgbClr val="CBCBEB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F4A1861D-2BB3-309A-B395-6EE2DBA0C54B}"/>
                </a:ext>
              </a:extLst>
            </p:cNvPr>
            <p:cNvSpPr txBox="1"/>
            <p:nvPr/>
          </p:nvSpPr>
          <p:spPr>
            <a:xfrm>
              <a:off x="0" y="-57150"/>
              <a:ext cx="4274726" cy="880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418F0E1-7A7F-7D91-7E4E-2617B2E4B92A}"/>
              </a:ext>
            </a:extLst>
          </p:cNvPr>
          <p:cNvSpPr txBox="1"/>
          <p:nvPr/>
        </p:nvSpPr>
        <p:spPr>
          <a:xfrm>
            <a:off x="4114800" y="8344522"/>
            <a:ext cx="9390184" cy="1259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1077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2D3880"/>
                </a:solidFill>
                <a:latin typeface="Glacial Indifference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Networks connect our digital world</a:t>
            </a:r>
            <a:endParaRPr lang="en-US" sz="4000" dirty="0">
              <a:solidFill>
                <a:srgbClr val="2D3880"/>
              </a:solidFill>
              <a:latin typeface="Glacial Indifference" panose="020B0604020202020204" charset="0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B942A82-B8DC-AC6B-9876-E0779B2458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827993"/>
            <a:ext cx="10196150" cy="67974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3066628" cy="10287000"/>
          </a:xfrm>
          <a:custGeom>
            <a:avLst/>
            <a:gdLst/>
            <a:ahLst/>
            <a:cxnLst/>
            <a:rect l="l" t="t" r="r" b="b"/>
            <a:pathLst>
              <a:path w="13066628" h="10287000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765849" y="4430422"/>
            <a:ext cx="8115300" cy="206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10"/>
              </a:lnSpc>
            </a:pPr>
            <a:r>
              <a:rPr lang="en-US" sz="12007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187</Words>
  <Application>Microsoft Office PowerPoint</Application>
  <PresentationFormat>Custom</PresentationFormat>
  <Paragraphs>44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Arial</vt:lpstr>
      <vt:lpstr>Glacial Indifference</vt:lpstr>
      <vt:lpstr>Wingdings</vt:lpstr>
      <vt:lpstr>Cormorant Garamond Bold Italics</vt:lpstr>
      <vt:lpstr>Cormorant Garamond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Reasons for Writing a Technical Paper</dc:title>
  <dc:creator>Tanisha Bhatt</dc:creator>
  <cp:lastModifiedBy>Tanisha Bhatt</cp:lastModifiedBy>
  <cp:revision>6</cp:revision>
  <dcterms:created xsi:type="dcterms:W3CDTF">2006-08-16T00:00:00Z</dcterms:created>
  <dcterms:modified xsi:type="dcterms:W3CDTF">2025-12-21T18:32:26Z</dcterms:modified>
  <dc:identifier>DAGyNuJK2sY</dc:identifier>
</cp:coreProperties>
</file>